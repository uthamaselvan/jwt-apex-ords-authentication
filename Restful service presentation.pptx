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9" r:id="rId4"/>
    <p:sldId id="260" r:id="rId5"/>
    <p:sldId id="261" r:id="rId6"/>
    <p:sldId id="262" r:id="rId7"/>
    <p:sldId id="258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A565-CC61-3290-FD11-66C532A39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8F36D-2682-0CC3-203A-659993179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4F216-15CE-3D4C-3E0E-6A69AD814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EBF38-7061-44BD-A45D-5966F05D7C3C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79D87-0276-DC5B-5C74-3D2F2D11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4B622-6497-2B51-7C2A-69F2E81AF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9FC3-8BC2-4780-A8CB-D6530D49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9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BF37A-87D7-633F-820D-ED451A2E8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39B50-2CF0-FA8A-A79C-4226DED6D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7524E-6F61-6F62-0882-9AB9D8F83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EBF38-7061-44BD-A45D-5966F05D7C3C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670EB-1ED6-43FD-5C7D-E1DEE215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75997-85E3-234A-466A-8536E9F26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9FC3-8BC2-4780-A8CB-D6530D49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34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A358-6E2C-999F-6CFD-BA3A933E9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7E397-EE07-ED3A-DEB0-001EAA6E0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2E379-4CE0-8CA3-98AE-82C9A3A9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EBF38-7061-44BD-A45D-5966F05D7C3C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61C8A-82EC-F4F6-BD2C-B8FB766AF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DA686-AAE5-7544-9D11-1A83209CA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9FC3-8BC2-4780-A8CB-D6530D49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713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65392-90C7-DEAB-7B4A-2CBCD98F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F341B-D45D-A946-3657-C75C41F9F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53F41-F474-C389-DA63-0122ECE53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EDD02-AFB6-CD72-FE35-47C06829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EBF38-7061-44BD-A45D-5966F05D7C3C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459C2-5D93-3359-E3BF-AD1ACA67E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5887F-8D39-BE4A-BE44-0D238F2EE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9FC3-8BC2-4780-A8CB-D6530D49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42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6F01B-7805-728C-C6C8-F26C399FA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1350A-C28B-9766-E3A7-8E11174A1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AB611-E222-6CAD-DBAC-E6609572D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7BBB9-AFB6-4C3A-0F7E-AB145E0F6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30F5B-CB89-784E-4D21-878E3CD51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BD07C7-8D9F-2A91-DFB5-6A3A2591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EBF38-7061-44BD-A45D-5966F05D7C3C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AD4B1B-04BD-9455-E00E-D5C88E96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35F60-5E8A-D1FD-57C9-28A77E3C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9FC3-8BC2-4780-A8CB-D6530D49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42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3E726-7CA2-6C23-66E1-35559409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1E82-1D71-5D29-0493-2748D515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EBF38-7061-44BD-A45D-5966F05D7C3C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B935E-8B97-3611-17CB-EA97F282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3176D-D2F1-B2DD-54A2-B1561EA2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9FC3-8BC2-4780-A8CB-D6530D49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07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51036-1910-2559-9880-52277B94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EBF38-7061-44BD-A45D-5966F05D7C3C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8A06BF-6E1D-77FF-BBC5-6AADFEA1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30719-A3B4-9F0E-4DDC-3ACFCFC0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9FC3-8BC2-4780-A8CB-D6530D49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94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C89AE-F15F-1C62-DC22-C533DCD6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6F191-D5CA-161A-ED53-4CA255B6D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B3DE7-3D1C-93EE-A6EF-D00C4DE30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E288A-B07A-13F3-B593-9070537F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EBF38-7061-44BD-A45D-5966F05D7C3C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D8B49-6B89-74E7-8A3E-8CB513B2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02B55-C27F-E6B2-E35F-4F55D1F3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9FC3-8BC2-4780-A8CB-D6530D49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328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ADC3-5F0E-249D-B154-954099CD4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09693-A6F5-46F0-97A9-4268CCE22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8E035-8ECF-EE4F-F38D-EF5994E15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2BCAA-D01D-BBBD-66A7-A6D0F2EB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EBF38-7061-44BD-A45D-5966F05D7C3C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C8F23-B897-FFA8-1F9C-65D6B44C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B344D-6EB1-94C2-C452-03BC11AD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9FC3-8BC2-4780-A8CB-D6530D49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76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66BD-FAD0-F393-857F-AD9B6A086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7CDAB-20C7-8896-2479-285862FBA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8533D-950B-B5B8-D65B-987036F0C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EBF38-7061-44BD-A45D-5966F05D7C3C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AFE41-FD34-AA2A-6B32-500C40E7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24289-52C5-A4BF-864D-0580F23B7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9FC3-8BC2-4780-A8CB-D6530D49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97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08F8A7-A213-C662-33FC-E1DAFE83E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2FA85-00AF-E504-E319-5CB2E9993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605A4-388A-1EF8-EE51-1989F5D83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EBF38-7061-44BD-A45D-5966F05D7C3C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86B5C-2943-6A17-3C5C-DCD2A821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43DAA-A529-FF37-ED99-D8887856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9FC3-8BC2-4780-A8CB-D6530D49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685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6D6D2-1F28-8FA2-D31D-5E55451F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FFD3D-ECA8-2E52-9368-1312495B3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112CC-5FC1-55F2-220B-8185AB9B7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EBF38-7061-44BD-A45D-5966F05D7C3C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B5225-D265-08C8-EB46-6EF239F01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F77CD-3EB2-E6D6-F83D-5436F56A4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79FC3-8BC2-4780-A8CB-D6530D49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481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oracleapex.com/ords/wsuthaman/authend/get-toke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" y="-984"/>
            <a:ext cx="12188952" cy="22230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457200"/>
            <a:ext cx="942918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JWT Authentication in Oracle APEX &amp; 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1188720"/>
            <a:ext cx="553388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FFFFFF"/>
                </a:solidFill>
              </a:rPr>
              <a:t>Generate and Validate Secure Tokens Using PL/SQL
Presented by </a:t>
            </a:r>
            <a:r>
              <a:rPr sz="2000" dirty="0" err="1">
                <a:solidFill>
                  <a:srgbClr val="FFFFFF"/>
                </a:solidFill>
              </a:rPr>
              <a:t>Uthama</a:t>
            </a:r>
            <a:r>
              <a:rPr lang="en-US" sz="2000" dirty="0" err="1">
                <a:solidFill>
                  <a:srgbClr val="FFFFFF"/>
                </a:solidFill>
              </a:rPr>
              <a:t>selvan</a:t>
            </a:r>
            <a:endParaRPr sz="200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BC7F9-C403-FC7C-98AC-08E35478B760}"/>
              </a:ext>
            </a:extLst>
          </p:cNvPr>
          <p:cNvSpPr txBox="1"/>
          <p:nvPr/>
        </p:nvSpPr>
        <p:spPr>
          <a:xfrm>
            <a:off x="1012723" y="436123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Technologies</a:t>
            </a:r>
            <a:r>
              <a:rPr lang="en-IN" sz="2800" dirty="0">
                <a:solidFill>
                  <a:srgbClr val="C00000"/>
                </a:solidFill>
              </a:rPr>
              <a:t>:</a:t>
            </a:r>
            <a:br>
              <a:rPr lang="en-IN" sz="2800" dirty="0">
                <a:solidFill>
                  <a:srgbClr val="C00000"/>
                </a:solidFill>
              </a:rPr>
            </a:br>
            <a:r>
              <a:rPr lang="en-IN" sz="2800" dirty="0">
                <a:solidFill>
                  <a:srgbClr val="C00000"/>
                </a:solidFill>
              </a:rPr>
              <a:t>	Oracle APEX</a:t>
            </a:r>
            <a:br>
              <a:rPr lang="en-IN" sz="2800" dirty="0">
                <a:solidFill>
                  <a:srgbClr val="C00000"/>
                </a:solidFill>
              </a:rPr>
            </a:br>
            <a:r>
              <a:rPr lang="en-IN" sz="2800" dirty="0">
                <a:solidFill>
                  <a:srgbClr val="C00000"/>
                </a:solidFill>
              </a:rPr>
              <a:t>	Oracle REST Data Services</a:t>
            </a:r>
            <a:br>
              <a:rPr lang="en-IN" sz="2800" dirty="0">
                <a:solidFill>
                  <a:srgbClr val="C00000"/>
                </a:solidFill>
              </a:rPr>
            </a:br>
            <a:r>
              <a:rPr lang="en-IN" sz="2800" dirty="0">
                <a:solidFill>
                  <a:srgbClr val="C00000"/>
                </a:solidFill>
              </a:rPr>
              <a:t>	Oracle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8E462-D117-E50B-AAC4-568113176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Modern applications require </a:t>
            </a:r>
            <a:r>
              <a:rPr lang="en-IN" b="1" dirty="0"/>
              <a:t>secure authentication for APIs and applications</a:t>
            </a:r>
            <a:r>
              <a:rPr lang="en-IN" dirty="0"/>
              <a:t>.</a:t>
            </a:r>
          </a:p>
          <a:p>
            <a:r>
              <a:rPr lang="en-IN" dirty="0"/>
              <a:t>One popular method is </a:t>
            </a:r>
            <a:r>
              <a:rPr lang="en-IN" b="1" dirty="0"/>
              <a:t>JWT (JSON Web Token)</a:t>
            </a:r>
            <a:r>
              <a:rPr lang="en-IN" dirty="0"/>
              <a:t> authentication.</a:t>
            </a:r>
          </a:p>
          <a:p>
            <a:r>
              <a:rPr lang="en-IN" dirty="0"/>
              <a:t>This presentation demonstrates how to implement JWT authentication using:</a:t>
            </a:r>
          </a:p>
          <a:p>
            <a:r>
              <a:rPr lang="en-IN" dirty="0"/>
              <a:t>Oracle APEX</a:t>
            </a:r>
          </a:p>
          <a:p>
            <a:r>
              <a:rPr lang="en-IN" dirty="0"/>
              <a:t>ORDS REST APIs</a:t>
            </a:r>
          </a:p>
          <a:p>
            <a:r>
              <a:rPr lang="en-IN" dirty="0"/>
              <a:t>PL/SQL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7E3522-669C-9216-654A-E8204CC825CB}"/>
              </a:ext>
            </a:extLst>
          </p:cNvPr>
          <p:cNvSpPr/>
          <p:nvPr/>
        </p:nvSpPr>
        <p:spPr>
          <a:xfrm>
            <a:off x="0" y="0"/>
            <a:ext cx="12467304" cy="10368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6933D00-B7EB-E1C2-2F3E-F4337602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9823099" cy="1036868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Introduction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A541CE-EA17-C4A3-5742-8FA01BEF3E30}"/>
              </a:ext>
            </a:extLst>
          </p:cNvPr>
          <p:cNvSpPr txBox="1">
            <a:spLocks/>
          </p:cNvSpPr>
          <p:nvPr/>
        </p:nvSpPr>
        <p:spPr>
          <a:xfrm>
            <a:off x="2922639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124126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155AF-F926-1AC5-CD1A-7F35CEBD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9D2CA-F82A-4966-1E9D-344411426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JWT (JSON Web Token)</a:t>
            </a:r>
            <a:r>
              <a:rPr lang="en-US" dirty="0"/>
              <a:t> is a secure method for transmitting information between parties as a JSON object.</a:t>
            </a:r>
          </a:p>
          <a:p>
            <a:r>
              <a:rPr lang="en-US" dirty="0"/>
              <a:t>JWT consists of </a:t>
            </a:r>
            <a:r>
              <a:rPr lang="en-US" b="1" dirty="0"/>
              <a:t>three parts</a:t>
            </a:r>
            <a:r>
              <a:rPr lang="en-US" dirty="0"/>
              <a:t>:</a:t>
            </a:r>
          </a:p>
          <a:p>
            <a:r>
              <a:rPr lang="en-US" dirty="0"/>
              <a:t>1️⃣ Header</a:t>
            </a:r>
            <a:br>
              <a:rPr lang="en-US" dirty="0"/>
            </a:br>
            <a:r>
              <a:rPr lang="en-US" dirty="0"/>
              <a:t>2️⃣ Payload</a:t>
            </a:r>
            <a:br>
              <a:rPr lang="en-US" dirty="0"/>
            </a:br>
            <a:r>
              <a:rPr lang="en-US" dirty="0"/>
              <a:t>3️⃣ Signature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Example Token:	</a:t>
            </a:r>
            <a:r>
              <a:rPr lang="en-IN" dirty="0" err="1"/>
              <a:t>xxxxx.yyyyy.zzzzz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616ED4-5C65-4024-43B6-ECA3D2CEFA45}"/>
              </a:ext>
            </a:extLst>
          </p:cNvPr>
          <p:cNvSpPr/>
          <p:nvPr/>
        </p:nvSpPr>
        <p:spPr>
          <a:xfrm>
            <a:off x="0" y="0"/>
            <a:ext cx="12467304" cy="10368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83DA0B80-FD61-1CB0-A79A-55D7415D39A8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9823099" cy="1036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</a:rPr>
              <a:t>What is JWT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455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723D1-855A-AC4A-D919-84F6733F2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C1C6B-449F-3BD6-B11B-83D3A703F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JWT Token format:</a:t>
            </a:r>
          </a:p>
          <a:p>
            <a:r>
              <a:rPr lang="en-IN" dirty="0" err="1"/>
              <a:t>Header.Payload.Signature</a:t>
            </a:r>
            <a:endParaRPr lang="en-IN" dirty="0"/>
          </a:p>
          <a:p>
            <a:r>
              <a:rPr lang="en-IN" dirty="0"/>
              <a:t>Example:</a:t>
            </a:r>
          </a:p>
          <a:p>
            <a:r>
              <a:rPr lang="en-IN" dirty="0"/>
              <a:t>eyJhbGciOiJIUzI1NiIsInR5cCI6IkpXVCJ9</a:t>
            </a:r>
            <a:br>
              <a:rPr lang="en-IN" dirty="0"/>
            </a:b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eyJ1c2VyIjoiYWRtaW4iLCJleHAiOjE3MjAwMDB9</a:t>
            </a:r>
            <a:br>
              <a:rPr lang="en-IN" dirty="0"/>
            </a:b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SflKxwRJSMeKKF2QT4fwpMeJf36POk6yJV_adQssw5c</a:t>
            </a:r>
          </a:p>
          <a:p>
            <a:r>
              <a:rPr lang="en-IN" dirty="0"/>
              <a:t>Each part is </a:t>
            </a:r>
            <a:r>
              <a:rPr lang="en-IN" b="1" dirty="0"/>
              <a:t>Base64 encoded</a:t>
            </a:r>
            <a:r>
              <a:rPr lang="en-IN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86EEF8-5C68-2A5C-60BC-4ABF3071C175}"/>
              </a:ext>
            </a:extLst>
          </p:cNvPr>
          <p:cNvSpPr/>
          <p:nvPr/>
        </p:nvSpPr>
        <p:spPr>
          <a:xfrm>
            <a:off x="0" y="0"/>
            <a:ext cx="12467304" cy="10368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D24F7048-9849-9AA7-BAB2-B2061888EC80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9823099" cy="1036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</a:rPr>
              <a:t>JWT Structure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36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9E694-0EF9-F381-FE5C-4DE9EC7A5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554B7-DA16-1474-E811-EBA7CB918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Application Flow:</a:t>
            </a:r>
          </a:p>
          <a:p>
            <a:r>
              <a:rPr lang="en-IN" dirty="0"/>
              <a:t>User → Login API</a:t>
            </a:r>
            <a:br>
              <a:rPr lang="en-IN" dirty="0"/>
            </a:br>
            <a:r>
              <a:rPr lang="en-IN" dirty="0" err="1"/>
              <a:t>API</a:t>
            </a:r>
            <a:r>
              <a:rPr lang="en-IN" dirty="0"/>
              <a:t> → Validate Credentials</a:t>
            </a:r>
            <a:br>
              <a:rPr lang="en-IN" dirty="0"/>
            </a:br>
            <a:r>
              <a:rPr lang="en-IN" dirty="0"/>
              <a:t>API → Generate JWT Token</a:t>
            </a:r>
            <a:br>
              <a:rPr lang="en-IN" dirty="0"/>
            </a:br>
            <a:r>
              <a:rPr lang="en-IN" dirty="0"/>
              <a:t>Client → Send Token in Request</a:t>
            </a:r>
            <a:br>
              <a:rPr lang="en-IN" dirty="0"/>
            </a:br>
            <a:r>
              <a:rPr lang="en-IN" dirty="0"/>
              <a:t>ORDS → Validate Token</a:t>
            </a:r>
            <a:br>
              <a:rPr lang="en-IN" dirty="0"/>
            </a:br>
            <a:r>
              <a:rPr lang="en-IN" dirty="0"/>
              <a:t>API → Return Data</a:t>
            </a:r>
          </a:p>
          <a:p>
            <a:pPr marL="0" indent="0">
              <a:buNone/>
            </a:pPr>
            <a:r>
              <a:rPr lang="en-IN" b="1" dirty="0"/>
              <a:t>Components</a:t>
            </a:r>
            <a:r>
              <a:rPr lang="en-IN" dirty="0"/>
              <a:t>:</a:t>
            </a:r>
          </a:p>
          <a:p>
            <a:r>
              <a:rPr lang="en-IN" dirty="0"/>
              <a:t>Oracle APEX</a:t>
            </a:r>
          </a:p>
          <a:p>
            <a:r>
              <a:rPr lang="en-IN" dirty="0"/>
              <a:t>ORDS REST API</a:t>
            </a:r>
          </a:p>
          <a:p>
            <a:r>
              <a:rPr lang="en-IN" dirty="0"/>
              <a:t>PL/SQL JWT Package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011667-5119-54E3-AAFD-0D11231A835C}"/>
              </a:ext>
            </a:extLst>
          </p:cNvPr>
          <p:cNvSpPr/>
          <p:nvPr/>
        </p:nvSpPr>
        <p:spPr>
          <a:xfrm>
            <a:off x="0" y="0"/>
            <a:ext cx="12467304" cy="10368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210F0DBE-A506-0DDD-A7B4-5B017407B8D0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9823099" cy="1036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</a:rPr>
              <a:t>Architecture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976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FCF9-D5FF-3F04-7595-A116996E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572A3-55C7-3A1D-8799-919873CCD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7" y="148149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We can see how to setup a Process for token validation</a:t>
            </a:r>
          </a:p>
          <a:p>
            <a:pPr marL="0" indent="0">
              <a:buNone/>
            </a:pPr>
            <a:endParaRPr lang="en-IN" dirty="0">
              <a:solidFill>
                <a:srgbClr val="C00000"/>
              </a:solidFill>
            </a:endParaRPr>
          </a:p>
          <a:p>
            <a:r>
              <a:rPr lang="en-IN" dirty="0">
                <a:solidFill>
                  <a:srgbClr val="C00000"/>
                </a:solidFill>
              </a:rPr>
              <a:t>Prepare user master for generate token with user.</a:t>
            </a:r>
          </a:p>
          <a:p>
            <a:r>
              <a:rPr lang="en-IN" dirty="0">
                <a:solidFill>
                  <a:srgbClr val="C00000"/>
                </a:solidFill>
              </a:rPr>
              <a:t>Client requests JWT token (login API)</a:t>
            </a:r>
          </a:p>
          <a:p>
            <a:r>
              <a:rPr lang="en-IN" dirty="0">
                <a:solidFill>
                  <a:srgbClr val="C00000"/>
                </a:solidFill>
              </a:rPr>
              <a:t>ORDS generates JWT using APEX_JWT</a:t>
            </a:r>
          </a:p>
          <a:p>
            <a:r>
              <a:rPr lang="en-IN" dirty="0">
                <a:solidFill>
                  <a:srgbClr val="C00000"/>
                </a:solidFill>
              </a:rPr>
              <a:t>Client sends token in Authorization: Bearer &lt;token&gt; header</a:t>
            </a:r>
          </a:p>
          <a:p>
            <a:r>
              <a:rPr lang="en-IN" dirty="0">
                <a:solidFill>
                  <a:srgbClr val="C00000"/>
                </a:solidFill>
              </a:rPr>
              <a:t>ORDS validates token before serving protected APIs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0C860D-56D3-3E51-9CD7-3CF1569442CF}"/>
              </a:ext>
            </a:extLst>
          </p:cNvPr>
          <p:cNvSpPr/>
          <p:nvPr/>
        </p:nvSpPr>
        <p:spPr>
          <a:xfrm>
            <a:off x="0" y="0"/>
            <a:ext cx="12467304" cy="10368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DE84B223-B015-44E9-32AF-77A2A04443AD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9823099" cy="1036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</a:rPr>
              <a:t>Process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267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C6AE1-853D-9802-3612-0E1E3328A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452123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Prepare user master for generate token with user.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0D4994-D62C-A172-FF38-542FC64BC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563"/>
            <a:ext cx="1219200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27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113F6-D27A-E078-E9C2-9B17AF172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2CF4-E061-399E-128F-A45243225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Create a ORDS Module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8FB628-7336-548C-DB33-B56C12EE1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563"/>
            <a:ext cx="12192000" cy="519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8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2F20-84AE-FF4E-A53C-83BFD04C2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17BD6-4B0B-F940-FB4A-E4681EC74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Create Template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CADEC2-7D9F-B738-E241-93B221157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563"/>
            <a:ext cx="12192000" cy="519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78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1D599-D845-0EDB-541B-BEB321469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757B-EBDF-1AC9-FCCB-DB241CA7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Create Handler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18C0FB-7716-091F-CAEF-F0EDF1E35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0839"/>
            <a:ext cx="12192000" cy="557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52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02876-CBB1-A55B-94D6-9B58F7922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49330-7F87-9659-AF8A-99084D5F0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Create Handler code and parameters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5B2BB8-E12E-0FE3-BF74-ED71CA2BA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1933"/>
            <a:ext cx="12388645" cy="578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59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82EFC-0C10-74A3-3EF1-576E43FE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FDEF-1353-3FA0-40BB-DB119A5F3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Create Handler code and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F5139-A788-D2FA-55A6-3179D3DDE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53" y="149132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This code I have mentioned in my </a:t>
            </a:r>
            <a:r>
              <a:rPr lang="en-IN" dirty="0" err="1">
                <a:solidFill>
                  <a:srgbClr val="C00000"/>
                </a:solidFill>
              </a:rPr>
              <a:t>github</a:t>
            </a:r>
            <a:r>
              <a:rPr lang="en-IN" dirty="0">
                <a:solidFill>
                  <a:srgbClr val="C00000"/>
                </a:solidFill>
              </a:rPr>
              <a:t>, Link as below</a:t>
            </a:r>
          </a:p>
          <a:p>
            <a:pPr marL="0" indent="0">
              <a:buNone/>
            </a:pPr>
            <a:endParaRPr lang="en-I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https://github.com/uthamaselvan</a:t>
            </a:r>
          </a:p>
        </p:txBody>
      </p:sp>
    </p:spTree>
    <p:extLst>
      <p:ext uri="{BB962C8B-B14F-4D97-AF65-F5344CB8AC3E}">
        <p14:creationId xmlns:p14="http://schemas.microsoft.com/office/powerpoint/2010/main" val="654983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18C9B-6AE1-201D-6A0D-425FB49F6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2D30-D291-30FF-10A8-6562E02E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Create Handler code and parameters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AA44D9-E4BD-E926-7AA9-B50C1A158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1933"/>
            <a:ext cx="12388645" cy="578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68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5CC77-3041-A719-29BE-C98E55C24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BB5F-3436-5BF9-518A-8C1B33461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Now we can check using postman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1743C-3D26-CBA1-9F2E-1C68329AA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53" y="149132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Token generation </a:t>
            </a:r>
            <a:r>
              <a:rPr lang="en-IN" b="1" dirty="0">
                <a:solidFill>
                  <a:srgbClr val="C00000"/>
                </a:solidFill>
              </a:rPr>
              <a:t>end point </a:t>
            </a:r>
            <a:r>
              <a:rPr lang="en-IN" b="1" dirty="0" err="1">
                <a:solidFill>
                  <a:srgbClr val="C00000"/>
                </a:solidFill>
              </a:rPr>
              <a:t>url</a:t>
            </a:r>
            <a:r>
              <a:rPr lang="en-IN" b="1" dirty="0">
                <a:solidFill>
                  <a:srgbClr val="C00000"/>
                </a:solidFill>
              </a:rPr>
              <a:t> </a:t>
            </a:r>
            <a:r>
              <a:rPr lang="en-IN" dirty="0">
                <a:solidFill>
                  <a:srgbClr val="C00000"/>
                </a:solidFill>
              </a:rPr>
              <a:t>is :</a:t>
            </a:r>
          </a:p>
          <a:p>
            <a:pPr marL="0" indent="0">
              <a:buNone/>
            </a:pPr>
            <a:r>
              <a:rPr lang="en-IN" dirty="0">
                <a:hlinkClick r:id="rId2"/>
              </a:rPr>
              <a:t>https://oracleapex.com/ords/wsuthaman/authend/get-token</a:t>
            </a:r>
            <a:endParaRPr lang="en-IN" dirty="0"/>
          </a:p>
          <a:p>
            <a:pPr marL="0" indent="0">
              <a:buNone/>
            </a:pPr>
            <a:endParaRPr lang="en-I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Method</a:t>
            </a:r>
            <a:r>
              <a:rPr lang="en-IN" dirty="0">
                <a:solidFill>
                  <a:srgbClr val="C00000"/>
                </a:solidFill>
              </a:rPr>
              <a:t> : POST</a:t>
            </a:r>
          </a:p>
          <a:p>
            <a:pPr marL="0" indent="0">
              <a:buNone/>
            </a:pPr>
            <a:endParaRPr lang="en-I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Header Parameters</a:t>
            </a:r>
            <a:r>
              <a:rPr lang="en-IN" dirty="0">
                <a:solidFill>
                  <a:srgbClr val="C00000"/>
                </a:solidFill>
              </a:rPr>
              <a:t> : Username (this user name need to provide as per our created user master)</a:t>
            </a:r>
          </a:p>
        </p:txBody>
      </p:sp>
    </p:spTree>
    <p:extLst>
      <p:ext uri="{BB962C8B-B14F-4D97-AF65-F5344CB8AC3E}">
        <p14:creationId xmlns:p14="http://schemas.microsoft.com/office/powerpoint/2010/main" val="2973747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7DBF5-7410-88F3-D533-B3E80BB66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D3877-78E4-2DBA-0606-DD349BD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Now we can check using postman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27DCA-5062-4C8E-AC9E-878F89669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641EDF-51AB-07A3-8975-E7736EC4B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2603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43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50BE1-E47E-DC1F-4688-6A47D579A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8771-F2AC-D03E-09A9-F2148F11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Based on our postman request token is Generated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C40067-0429-3357-BE3E-0D3DEA50D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8704A6-AB71-84B1-2469-38BA5301E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07" t="16384"/>
          <a:stretch>
            <a:fillRect/>
          </a:stretch>
        </p:blipFill>
        <p:spPr>
          <a:xfrm>
            <a:off x="0" y="1641986"/>
            <a:ext cx="12860594" cy="647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753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260A8-B349-EBF0-7A54-BDD3015A5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3D29C1-6E97-FD41-FA3F-A219ADCDE8AE}"/>
              </a:ext>
            </a:extLst>
          </p:cNvPr>
          <p:cNvSpPr/>
          <p:nvPr/>
        </p:nvSpPr>
        <p:spPr>
          <a:xfrm>
            <a:off x="0" y="1899866"/>
            <a:ext cx="12467304" cy="18582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8F16D796-508A-968A-E894-BD7C6DD8E301}"/>
              </a:ext>
            </a:extLst>
          </p:cNvPr>
          <p:cNvSpPr txBox="1">
            <a:spLocks/>
          </p:cNvSpPr>
          <p:nvPr/>
        </p:nvSpPr>
        <p:spPr>
          <a:xfrm>
            <a:off x="0" y="1976284"/>
            <a:ext cx="9823099" cy="1592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</a:rPr>
              <a:t>We have generated token now, hereafter we can validate the generate token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274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1294B-A782-6380-6A15-F1C85C450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3D08D-3ADF-E84F-F1F1-0D9E6474B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Create one more template as Validate token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9194D5-456C-732B-F50C-4DEAB7906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F58CC-63AD-2846-6496-92207639B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" y="1387359"/>
            <a:ext cx="12192000" cy="522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66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39186-495E-F1A3-0272-FA4A5EB61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76454-C7C1-B441-8883-2DBA13C13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Create handler under validate token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5E52DD-FC5F-E8BB-56DE-A54AB204A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298DA4-2B5D-C321-9B01-178839549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5761"/>
            <a:ext cx="12192000" cy="550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12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0319B-83A8-43A1-C36D-3BEC0FEC4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D1E8-C1FD-5A22-5D43-F38E6BBC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8582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Source code is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312664-76F3-11DC-DAFA-E5492F1B4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85827"/>
            <a:ext cx="9163665" cy="601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981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5A205-521F-9034-EA04-0B033B564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BE3F6-0994-8825-AD32-CAACD8A9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Now, we can check in Postman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268FD9-3546-1107-5936-E66FE18E2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Copy the token value from the Generate token response.,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6BF2E-E072-8039-987E-01BC3CDD5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2883975"/>
            <a:ext cx="12192000" cy="329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33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3E04B-5D9A-C06F-4615-79E01C327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0A0C-9BBB-37E2-35A6-14FB35C6E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Now, we can check in Postman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AC54B8-EF67-C608-59DD-60E6EBD5A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929" y="1039044"/>
            <a:ext cx="8984226" cy="6226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Paste into the validate token new request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1356F9-D966-D873-F9E9-6AF2A1576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2936"/>
            <a:ext cx="9714271" cy="464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28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82782-1F4E-BDD4-C0D3-C52BC9CDC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9082-5F6E-5E7A-BE2F-34C9D109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Success response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B73858-729E-BB66-06B9-B3747010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929" y="1039044"/>
            <a:ext cx="8984226" cy="6226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Paste into the validate token new request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5FEABE-8646-FB54-DD18-4C35FD9FC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29" y="1868086"/>
            <a:ext cx="12192000" cy="312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43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6A8A00-6992-037E-BC86-9B9A06172DA9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5027B-D865-BD34-4908-E9C8E6AB3D38}"/>
              </a:ext>
            </a:extLst>
          </p:cNvPr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75EDFE-B23D-4767-0764-F36DAC8AED6F}"/>
              </a:ext>
            </a:extLst>
          </p:cNvPr>
          <p:cNvSpPr txBox="1"/>
          <p:nvPr/>
        </p:nvSpPr>
        <p:spPr>
          <a:xfrm>
            <a:off x="1961536" y="2831258"/>
            <a:ext cx="91784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JWT Authentication in Oracle APEX &amp; 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834955-BB76-1F22-4605-E4F4A5A35A52}"/>
              </a:ext>
            </a:extLst>
          </p:cNvPr>
          <p:cNvSpPr txBox="1"/>
          <p:nvPr/>
        </p:nvSpPr>
        <p:spPr>
          <a:xfrm>
            <a:off x="457199" y="4484134"/>
            <a:ext cx="81312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Presented by </a:t>
            </a:r>
          </a:p>
          <a:p>
            <a:r>
              <a:rPr lang="en-US" sz="2800" b="1" dirty="0" err="1">
                <a:solidFill>
                  <a:srgbClr val="C00000"/>
                </a:solidFill>
              </a:rPr>
              <a:t>Uthamaselvan</a:t>
            </a:r>
            <a:endParaRPr lang="en-IN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093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448</Words>
  <Application>Microsoft Office PowerPoint</Application>
  <PresentationFormat>Widescreen</PresentationFormat>
  <Paragraphs>71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Prepare user master for generate token with user.</vt:lpstr>
      <vt:lpstr>Create a ORDS Module</vt:lpstr>
      <vt:lpstr>Create Template</vt:lpstr>
      <vt:lpstr>Create Handler</vt:lpstr>
      <vt:lpstr>Create Handler code and parameters</vt:lpstr>
      <vt:lpstr>Create Handler code and parameters</vt:lpstr>
      <vt:lpstr>Create Handler code and parameters</vt:lpstr>
      <vt:lpstr>Now we can check using postman</vt:lpstr>
      <vt:lpstr>Now we can check using postman</vt:lpstr>
      <vt:lpstr>Based on our postman request token is Generated</vt:lpstr>
      <vt:lpstr>PowerPoint Presentation</vt:lpstr>
      <vt:lpstr>Create one more template as Validate token</vt:lpstr>
      <vt:lpstr>Create handler under validate token</vt:lpstr>
      <vt:lpstr>Source code is</vt:lpstr>
      <vt:lpstr>Now, we can check in Postman</vt:lpstr>
      <vt:lpstr>Now, we can check in Postman</vt:lpstr>
      <vt:lpstr>Success response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uthaman M</dc:creator>
  <cp:lastModifiedBy>uthaman M</cp:lastModifiedBy>
  <cp:revision>4</cp:revision>
  <dcterms:created xsi:type="dcterms:W3CDTF">2026-03-05T18:34:30Z</dcterms:created>
  <dcterms:modified xsi:type="dcterms:W3CDTF">2026-03-05T19:53:03Z</dcterms:modified>
</cp:coreProperties>
</file>